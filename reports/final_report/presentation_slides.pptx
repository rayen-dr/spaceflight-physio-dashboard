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Bone Mineral Density % Change by Skeletal Site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Change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Skull</c:v>
                  </c:pt>
                  <c:pt idx="1">
                    <c:v>Femoral
neck</c:v>
                  </c:pt>
                  <c:pt idx="2">
                    <c:v>Hip</c:v>
                  </c:pt>
                  <c:pt idx="3">
                    <c:v>Lumbar
spine</c:v>
                  </c:pt>
                  <c:pt idx="4">
                    <c:v>Thorax &amp;
upper limbs</c:v>
                  </c:pt>
                  <c:pt idx="5">
                    <c:v>Lower
limbs</c:v>
                  </c:pt>
                  <c:pt idx="6">
                    <c:v>Spine &amp;
pelvis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2.2</c:v>
                </c:pt>
                <c:pt idx="1">
                  <c:v>-1</c:v>
                </c:pt>
                <c:pt idx="2">
                  <c:v>-1.25</c:v>
                </c:pt>
                <c:pt idx="3">
                  <c:v>-1.3</c:v>
                </c:pt>
                <c:pt idx="4">
                  <c:v>-1.4</c:v>
                </c:pt>
                <c:pt idx="5">
                  <c:v>-4.9</c:v>
                </c:pt>
                <c:pt idx="6">
                  <c:v>-6.2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Muscle % Change: Short vs. Long Duration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Short duration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Calf</c:v>
                  </c:pt>
                  <c:pt idx="1">
                    <c:v>Hamstrings</c:v>
                  </c:pt>
                  <c:pt idx="2">
                    <c:v>Quadriceps</c:v>
                  </c:pt>
                  <c:pt idx="3">
                    <c:v>Back</c:v>
                  </c:pt>
                  <c:pt idx="4">
                    <c:v>Whole body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-6.3</c:v>
                </c:pt>
                <c:pt idx="1">
                  <c:v>-8.3</c:v>
                </c:pt>
                <c:pt idx="2">
                  <c:v>-6</c:v>
                </c:pt>
                <c:pt idx="3">
                  <c:v>-10.3</c:v>
                </c:pt>
                <c:pt idx="4">
                  <c:v>-20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Long duration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Calf</c:v>
                  </c:pt>
                  <c:pt idx="1">
                    <c:v>Hamstrings</c:v>
                  </c:pt>
                  <c:pt idx="2">
                    <c:v>Quadriceps</c:v>
                  </c:pt>
                  <c:pt idx="3">
                    <c:v>Back</c:v>
                  </c:pt>
                  <c:pt idx="4">
                    <c:v>Whole body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-27.5</c:v>
                </c:pt>
                <c:pt idx="1">
                  <c:v/>
                </c:pt>
                <c:pt idx="2">
                  <c:v>-12</c:v>
                </c:pt>
                <c:pt idx="3">
                  <c:v>-20</c:v>
                </c:pt>
                <c:pt idx="4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Orthostatic Intolerance Incidence by Mission Duration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OI Incidence %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Short</c:v>
                  </c:pt>
                  <c:pt idx="1">
                    <c:v>Mixed (pooled)</c:v>
                  </c:pt>
                  <c:pt idx="2">
                    <c:v>Long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30</c:v>
                </c:pt>
                <c:pt idx="2">
                  <c:v>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% of astronauts affected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Average Sleep Duration by Context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Hours/night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In-flight
(short)</c:v>
                  </c:pt>
                  <c:pt idx="1">
                    <c:v>In-flight
(long)</c:v>
                  </c:pt>
                  <c:pt idx="2">
                    <c:v>Pre-flight
baseline</c:v>
                  </c:pt>
                  <c:pt idx="3">
                    <c:v>NASA
scheduled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5.96</c:v>
                </c:pt>
                <c:pt idx="1">
                  <c:v>6.09</c:v>
                </c:pt>
                <c:pt idx="2">
                  <c:v>7.9</c:v>
                </c:pt>
                <c:pt idx="3">
                  <c:v>8.5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Hours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of the Physiological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Effects of Spaceflight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Analysis &amp; Interactive Dashboard Development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Internship Project — TUNSA (Tunisian Space Association)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D4"/>
                </a:solidFill>
              </a:rPr>
              <a:t>[Your Full Name]  ·  2nd-Year Preparatory Engineering Student  ·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dirty="0">
                <a:solidFill>
                  <a:srgbClr val="000000"/>
                </a:solidFill>
              </a:rPr>
              <a:t>🎯</a:t>
            </a:r>
            <a:endParaRPr lang="en-US" sz="1176" dirty="0"/>
          </a:p>
        </p:txBody>
      </p:sp>
      <p:sp>
        <p:nvSpPr>
          <p:cNvPr id="5" name="Text 3"/>
          <p:cNvSpPr/>
          <p:nvPr/>
        </p:nvSpPr>
        <p:spPr>
          <a:xfrm>
            <a:off x="1097280" y="15270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Context &amp; Objectives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dirty="0">
                <a:solidFill>
                  <a:srgbClr val="000000"/>
                </a:solidFill>
              </a:rPr>
              <a:t>🔍</a:t>
            </a:r>
            <a:endParaRPr lang="en-US" sz="1176" dirty="0"/>
          </a:p>
        </p:txBody>
      </p:sp>
      <p:sp>
        <p:nvSpPr>
          <p:cNvPr id="8" name="Text 6"/>
          <p:cNvSpPr/>
          <p:nvPr/>
        </p:nvSpPr>
        <p:spPr>
          <a:xfrm>
            <a:off x="1097280" y="20939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The Data Challenge — What Was Actually Available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8833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dirty="0">
                <a:solidFill>
                  <a:srgbClr val="000000"/>
                </a:solidFill>
              </a:rPr>
              <a:t>🗂️</a:t>
            </a:r>
            <a:endParaRPr lang="en-US" sz="1176" dirty="0"/>
          </a:p>
        </p:txBody>
      </p:sp>
      <p:sp>
        <p:nvSpPr>
          <p:cNvPr id="11" name="Text 9"/>
          <p:cNvSpPr/>
          <p:nvPr/>
        </p:nvSpPr>
        <p:spPr>
          <a:xfrm>
            <a:off x="1097280" y="26609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Datasets &amp; Coverage Verification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25526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dirty="0">
                <a:solidFill>
                  <a:srgbClr val="000000"/>
                </a:solidFill>
              </a:rPr>
              <a:t>⚙️</a:t>
            </a:r>
            <a:endParaRPr lang="en-US" sz="1176" dirty="0"/>
          </a:p>
        </p:txBody>
      </p:sp>
      <p:sp>
        <p:nvSpPr>
          <p:cNvPr id="14" name="Text 12"/>
          <p:cNvSpPr/>
          <p:nvPr/>
        </p:nvSpPr>
        <p:spPr>
          <a:xfrm>
            <a:off x="1097280" y="3227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Pipeline &amp; Methodology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155448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dirty="0">
                <a:solidFill>
                  <a:srgbClr val="000000"/>
                </a:solidFill>
              </a:rPr>
              <a:t>📊</a:t>
            </a:r>
            <a:endParaRPr lang="en-US" sz="1176" dirty="0"/>
          </a:p>
        </p:txBody>
      </p:sp>
      <p:sp>
        <p:nvSpPr>
          <p:cNvPr id="17" name="Text 15"/>
          <p:cNvSpPr/>
          <p:nvPr/>
        </p:nvSpPr>
        <p:spPr>
          <a:xfrm>
            <a:off x="6858000" y="15270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Key Findings — Bone, Muscle, Cardiovascular, Sleep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212140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dirty="0">
                <a:solidFill>
                  <a:srgbClr val="000000"/>
                </a:solidFill>
              </a:rPr>
              <a:t>🩸</a:t>
            </a:r>
            <a:endParaRPr lang="en-US" sz="1176" dirty="0"/>
          </a:p>
        </p:txBody>
      </p:sp>
      <p:sp>
        <p:nvSpPr>
          <p:cNvPr id="20" name="Text 18"/>
          <p:cNvSpPr/>
          <p:nvPr/>
        </p:nvSpPr>
        <p:spPr>
          <a:xfrm>
            <a:off x="6858000" y="20939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Flagship Finding — Recovery Case Study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09360" y="268833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dirty="0">
                <a:solidFill>
                  <a:srgbClr val="000000"/>
                </a:solidFill>
              </a:rPr>
              <a:t>🖥️</a:t>
            </a:r>
            <a:endParaRPr lang="en-US" sz="1176" dirty="0"/>
          </a:p>
        </p:txBody>
      </p:sp>
      <p:sp>
        <p:nvSpPr>
          <p:cNvPr id="23" name="Text 21"/>
          <p:cNvSpPr/>
          <p:nvPr/>
        </p:nvSpPr>
        <p:spPr>
          <a:xfrm>
            <a:off x="6858000" y="26609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Interactive Dashboard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325526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dirty="0">
                <a:solidFill>
                  <a:srgbClr val="000000"/>
                </a:solidFill>
              </a:rPr>
              <a:t>⚠️</a:t>
            </a:r>
            <a:endParaRPr lang="en-US" sz="1176" dirty="0"/>
          </a:p>
        </p:txBody>
      </p:sp>
      <p:sp>
        <p:nvSpPr>
          <p:cNvPr id="26" name="Text 24"/>
          <p:cNvSpPr/>
          <p:nvPr/>
        </p:nvSpPr>
        <p:spPr>
          <a:xfrm>
            <a:off x="6858000" y="3227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Limitations &amp; Honest Scope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761"/>
                </a:solidFill>
              </a:rPr>
              <a:t>Spaceflight exposes the human body to stressors with no equivalent on Earth: sustained microgravity, radiation, and disrupted circadian rhythm.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761"/>
                </a:solidFill>
              </a:rPr>
              <a:t>As missions grow longer — toward Mars-length transits — understanding adaptation and recovery becomes critical for mission planning and astronaut health.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634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0" y="15544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570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0" y="15544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</a:rPr>
              <a:t>Real astronauts analyzed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9440" y="2880360"/>
            <a:ext cx="46634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29718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38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686800" y="2971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</a:rPr>
              <a:t>Literature-sourced findings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4297680"/>
            <a:ext cx="46634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0" y="43891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4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686800" y="43891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</a:rPr>
              <a:t>Systems: Bone, Muscle,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</a:rPr>
              <a:t>Cardiovascular, Sleep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554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Quantify physiological change across bone, muscle, cardiovascular, and sleep systems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4231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Compare impact across mission durations — short vs. long-duration flights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32918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Enable exploration and comparison across real astronauts and missions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1605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Deliver an interactive, filterable dashboard for non-technical exploration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50292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Practice a complete, professional data science workflow end to end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Challenge — What We Assumed vs. What We Found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DF0E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3A3F"/>
                </a:solidFill>
              </a:rPr>
              <a:t>❌  Original Plan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</a:rPr>
              <a:t>NASA LSDA individual astronaut records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5A6478"/>
                </a:solidFill>
              </a:rPr>
              <a:t>→ Requires IRB approval, months-long process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</a:rPr>
              <a:t>NASA OSDR / GeneLab open data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5A6478"/>
                </a:solidFill>
              </a:rPr>
              <a:t>→ Dominated by 'omics data from mice, plants — not human tabular data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EAF3EC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✅  What We Actually Used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28600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</a:rPr>
              <a:t>570-astronaut Kaggle metadata dataset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</a:rPr>
              <a:t>38 literature-compiled findings across 4 systems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</a:rPr>
              <a:t>Real Inspiration4 blood-panel data (OSDR)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</a:rPr>
              <a:t>Verified column-by-column before writing any code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Complementary Datasets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.98230216442e+21" dist="660767388140000000000" dir="6.9984e+25">
              <a:srgbClr val="888888">
                <a:alpha val="2.5e+24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20240" y="20116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192024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</a:rPr>
              <a:t>🧑‍🚀</a:t>
            </a:r>
            <a:endParaRPr lang="en-US" sz="252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Astronaut Metadata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96167"/>
                </a:solidFill>
              </a:rPr>
              <a:t>Kaggle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E2761"/>
                </a:solidFill>
              </a:rPr>
              <a:t>570 astronauts, 42 countries — career flight time, missions, comparison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.98230216442e+21" dist="660767388140000000000" dir="6.9984e+25">
              <a:srgbClr val="888888">
                <a:alpha val="2.5e+2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06440" y="20116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</a:rPr>
              <a:t>📚</a:t>
            </a:r>
            <a:endParaRPr lang="en-US" sz="252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Literature Findings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96167"/>
                </a:solidFill>
              </a:rPr>
              <a:t>Peer-reviewed studies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39776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E2761"/>
                </a:solidFill>
              </a:rPr>
              <a:t>38 findings across Bone, Muscle, Cardiovascular, Sleep — cross-study aggregates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321040" y="164592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.98230216442e+21" dist="660767388140000000000" dir="6.9984e+25">
              <a:srgbClr val="888888">
                <a:alpha val="2.5e+2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92640" y="20116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</a:rPr>
              <a:t>🩸</a:t>
            </a:r>
            <a:endParaRPr lang="en-US" sz="2520" dirty="0"/>
          </a:p>
        </p:txBody>
      </p:sp>
      <p:sp>
        <p:nvSpPr>
          <p:cNvPr id="18" name="Text 16"/>
          <p:cNvSpPr/>
          <p:nvPr/>
        </p:nvSpPr>
        <p:spPr>
          <a:xfrm>
            <a:off x="850392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Inspiration4 Blood Panel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0392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96167"/>
                </a:solidFill>
              </a:rPr>
              <a:t>NASA OSDR (OSD-569)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41080" y="39776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E2761"/>
                </a:solidFill>
              </a:rPr>
              <a:t>4 astronauts, 23 analytes, 7 timepoints — the only true longitudinal data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Verification — Before Writing Any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8"/>
                </a:solidFill>
              </a:rPr>
              <a:t>Every originally-desired parameter was checked against real columns and values — not assumed from a dataset's general topic.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AFAFA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14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✅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F2D"/>
                </a:solidFill>
              </a:rPr>
              <a:t>Fully Covered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761"/>
                </a:solidFill>
              </a:rPr>
              <a:t>BMD by site, orthostatic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761"/>
                </a:solidFill>
              </a:rPr>
              <a:t>intolerance, sleep duration,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761"/>
                </a:solidFill>
              </a:rPr>
              <a:t>astronaut ID/sex/flights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228600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AFAFA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2514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⚠️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434840" y="3246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860B"/>
                </a:solidFill>
              </a:rPr>
              <a:t>Partial / Proxy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09160" y="38404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761"/>
                </a:solidFill>
              </a:rPr>
              <a:t>Muscle mass &amp; strength,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761"/>
                </a:solidFill>
              </a:rPr>
              <a:t>bone evolution, sleep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761"/>
                </a:solidFill>
              </a:rPr>
              <a:t>disturbance, mission metadata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228600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AFAFA"/>
          </a:solidFill>
          <a:ln w="19050">
            <a:solidFill>
              <a:srgbClr val="B33A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514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❌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321040" y="3246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3A3F"/>
                </a:solidFill>
              </a:rPr>
              <a:t>Missing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95360" y="38404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761"/>
                </a:solidFill>
              </a:rPr>
              <a:t>Resting HR, blood pressure,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761"/>
                </a:solidFill>
              </a:rPr>
              <a:t>HRV, bone turnover markers,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761"/>
                </a:solidFill>
              </a:rPr>
              <a:t>age, countermeasure adherence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&amp; Methodology</a:t>
            </a:r>
            <a:endParaRPr lang="en-US" sz="3000" dirty="0"/>
          </a:p>
        </p:txBody>
      </p:sp>
      <p:pic>
        <p:nvPicPr>
          <p:cNvPr id="3" name="Image 0" descr="/home/claude/spaceflight-physio-dashboard/assets/diagram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417320"/>
            <a:ext cx="10515600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— Bone Density Loss Is Site-Specific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554480"/>
            <a:ext cx="3886200" cy="4572000"/>
          </a:xfrm>
          <a:prstGeom prst="roundRect">
            <a:avLst>
              <a:gd name="adj" fmla="val 1882"/>
            </a:avLst>
          </a:prstGeom>
          <a:solidFill>
            <a:srgbClr val="F4F6FB"/>
          </a:solidFill>
          <a:ln/>
        </p:spPr>
      </p:sp>
      <p:sp>
        <p:nvSpPr>
          <p:cNvPr id="5" name="Text 2"/>
          <p:cNvSpPr/>
          <p:nvPr/>
        </p:nvSpPr>
        <p:spPr>
          <a:xfrm>
            <a:off x="8001000" y="1828800"/>
            <a:ext cx="3429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E2761"/>
                </a:solidFill>
              </a:rPr>
              <a:t>Weight-bearing regions (spine, pelvis, legs) lose the most bone density.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761"/>
                </a:solidFill>
              </a:rPr>
              <a:t>The skull actually gains density — consistent with mechanical-loading theory of bone remodeling.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761"/>
                </a:solidFill>
              </a:rPr>
              <a:t>At 1 year post-flight: only 34% recovered hip BMD, 47% recovered spine BMD.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</a:rPr>
              <a:t>Source: literature-compiled findings, see docs/data_sources.md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— Muscle Loss Scales with Mission Duration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2237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046720" y="155448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ln/>
        </p:spPr>
      </p:sp>
      <p:sp>
        <p:nvSpPr>
          <p:cNvPr id="5" name="Text 2"/>
          <p:cNvSpPr/>
          <p:nvPr/>
        </p:nvSpPr>
        <p:spPr>
          <a:xfrm>
            <a:off x="8275320" y="182880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E2761"/>
                </a:solidFill>
              </a:rPr>
              <a:t>For matching muscle groups, long-duration losses are consistently larger.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2761"/>
                </a:solidFill>
              </a:rPr>
              <a:t>Calf muscle: -6% after 8 days vs. -27.5% force loss after 6 months.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2761"/>
                </a:solidFill>
              </a:rPr>
              <a:t>Only 1 strength data point exists (calf, long-duration) — a real coverage gap.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</a:rPr>
              <a:t>Source: literature-compiled findings, see docs/data_sources.md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— Orthostatic Intolerance Rises Sharply with Duration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554480"/>
            <a:ext cx="3886200" cy="4572000"/>
          </a:xfrm>
          <a:prstGeom prst="roundRect">
            <a:avLst>
              <a:gd name="adj" fmla="val 1882"/>
            </a:avLst>
          </a:prstGeom>
          <a:solidFill>
            <a:srgbClr val="F4F6FB"/>
          </a:solidFill>
          <a:ln/>
        </p:spPr>
      </p:sp>
      <p:sp>
        <p:nvSpPr>
          <p:cNvPr id="5" name="Text 2"/>
          <p:cNvSpPr/>
          <p:nvPr/>
        </p:nvSpPr>
        <p:spPr>
          <a:xfrm>
            <a:off x="8001000" y="1828800"/>
            <a:ext cx="3429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E2761"/>
                </a:solidFill>
              </a:rPr>
              <a:t>One of the strongest duration effects found in this project.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761"/>
                </a:solidFill>
              </a:rPr>
              <a:t>Dizziness/fainting risk upon standing after return jumps from ~25% (short) to 83% (long).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761"/>
                </a:solidFill>
              </a:rPr>
              <a:t>Resting HR, blood pressure, and HRV were not available in any dataset — a genuine open-data gap.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</a:rPr>
              <a:t>Source: literature-compiled findings, see docs/data_sources.md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— Sleep Deficit Is Duration-Independent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554480"/>
            <a:ext cx="3886200" cy="4572000"/>
          </a:xfrm>
          <a:prstGeom prst="roundRect">
            <a:avLst>
              <a:gd name="adj" fmla="val 1882"/>
            </a:avLst>
          </a:prstGeom>
          <a:solidFill>
            <a:srgbClr val="F4F6FB"/>
          </a:solidFill>
          <a:ln/>
        </p:spPr>
      </p:sp>
      <p:sp>
        <p:nvSpPr>
          <p:cNvPr id="5" name="Text 2"/>
          <p:cNvSpPr/>
          <p:nvPr/>
        </p:nvSpPr>
        <p:spPr>
          <a:xfrm>
            <a:off x="8001000" y="1828800"/>
            <a:ext cx="3429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E2761"/>
                </a:solidFill>
              </a:rPr>
              <a:t>Astronauts sleep ~2-3 hours less than NASA's own 8.5h schedule.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2761"/>
                </a:solidFill>
              </a:rPr>
              <a:t>The deficit is nearly identical for short and long missions — suggesting an operational/environmental cause, not a physiological adaptation.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2761"/>
                </a:solidFill>
              </a:rPr>
              <a:t>No validated sleep quality or efficiency score was available.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</a:rPr>
              <a:t>Source: literature-compiled findings, see docs/data_sources.md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Flagship Finding — Recovery Case Study (Inspiration4)</a:t>
            </a:r>
            <a:endParaRPr lang="en-US" sz="3000" dirty="0"/>
          </a:p>
        </p:txBody>
      </p:sp>
      <p:pic>
        <p:nvPicPr>
          <p:cNvPr id="3" name="Image 0" descr="/home/claude/spaceflight-physio-dashboard/reports/figures/07_space_anemia_trajec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7863840" cy="2560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977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</a:rPr>
              <a:t>Figure — RBC, hemoglobin, hematocrit for all 4 crew members, pre-flight through R+194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4434840"/>
            <a:ext cx="7863840" cy="1783080"/>
          </a:xfrm>
          <a:prstGeom prst="roundRect">
            <a:avLst>
              <a:gd name="adj" fmla="val 4103"/>
            </a:avLst>
          </a:prstGeom>
          <a:solidFill>
            <a:srgbClr val="FFF4E5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617720"/>
            <a:ext cx="7406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8A5A00"/>
                </a:solidFill>
              </a:rPr>
              <a:t>The textbook "spaceflight anemia" dip was NOT clearly present here — we checked, and corrected our own draft finding.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761"/>
                </a:solidFill>
              </a:rPr>
              <a:t>Likely explanation: Inspiration4 (~3 days) was too short to trigger the effect seen in much longer ISS missions — itself a genuine, duration-dependent finding.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86800" y="137160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8" name="Text 5"/>
          <p:cNvSpPr/>
          <p:nvPr/>
        </p:nvSpPr>
        <p:spPr>
          <a:xfrm>
            <a:off x="8869680" y="14630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4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0058400" y="1463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real astronauts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tracked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0" y="288036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11" name="Text 8"/>
          <p:cNvSpPr/>
          <p:nvPr/>
        </p:nvSpPr>
        <p:spPr>
          <a:xfrm>
            <a:off x="8869680" y="29718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194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0149840" y="297180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</a:rPr>
              <a:t>days of post-flight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</a:rPr>
              <a:t>recovery tracked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686800" y="438912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14" name="Text 11"/>
          <p:cNvSpPr/>
          <p:nvPr/>
        </p:nvSpPr>
        <p:spPr>
          <a:xfrm>
            <a:off x="8869680" y="4480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</a:rPr>
              <a:t>1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10058400" y="44805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</a:rPr>
              <a:t>data anomaly found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</a:rPr>
              <a:t>&amp; transparently flagged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</a:rPr>
              <a:t>Source: NASA OSDR, OSD-569 / LSDS-7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 — 8 Pages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916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Home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33756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6916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🦴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29000" y="24231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Bone Health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6916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💪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0" y="24231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Muscle Health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91540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16916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❤️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006840" y="24231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Cardiovascular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74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😴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Sleep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337560" y="33375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3474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🩸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429000" y="4206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Recovery Case Study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26480" y="33375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474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🧑‍🚀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217920" y="4206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Astronaut Comparison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915400" y="33375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8915400" y="3474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🛰️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006840" y="4206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Mission Comparison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Verified with Streamlit's AppTest framework — every page executed against real data with zero exceptions.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Honest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What we deliberately did NOT claim: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20040" cy="320040"/>
          </a:xfrm>
          <a:prstGeom prst="ellipse">
            <a:avLst/>
          </a:prstGeom>
          <a:solidFill>
            <a:srgbClr val="FDF0E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❌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1051560" y="19659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</a:rPr>
              <a:t>No in-flight / during-mission measurement exists in ANY dataset used, for ANY physiological system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320040" cy="320040"/>
          </a:xfrm>
          <a:prstGeom prst="ellipse">
            <a:avLst/>
          </a:prstGeom>
          <a:solidFill>
            <a:srgbClr val="FDF0E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70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❌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1051560" y="26243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</a:rPr>
              <a:t>No bone turnover markers, muscle fiber-type data, resting heart rate, blood pressure, or HRV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328416"/>
            <a:ext cx="320040" cy="320040"/>
          </a:xfrm>
          <a:prstGeom prst="ellipse">
            <a:avLst/>
          </a:prstGeom>
          <a:solidFill>
            <a:srgbClr val="FDF0E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❌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051560" y="328269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</a:rPr>
              <a:t>No astronaut age or countermeasure (exercise protocol) adherence data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986784"/>
            <a:ext cx="320040" cy="320040"/>
          </a:xfrm>
          <a:prstGeom prst="ellipse">
            <a:avLst/>
          </a:prstGeom>
          <a:solidFill>
            <a:srgbClr val="FDF0E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867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❌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1051560" y="394106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</a:rPr>
              <a:t>Literature findings are cross-study aggregates, not individual longitudinal measurements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320040" cy="320040"/>
          </a:xfrm>
          <a:prstGeom prst="ellipse">
            <a:avLst/>
          </a:prstGeom>
          <a:solidFill>
            <a:srgbClr val="FDF0E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45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❌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1051560" y="459943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</a:rPr>
              <a:t>Mission duration/dates are only approximately recoverable via text parsing, not clean structured fields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AF3E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5321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Why this matters: naming what's missing is what makes everything else credible.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ADCFC"/>
                </a:solidFill>
              </a:rPr>
              <a:t>A rigorous, honest data science workflow is achievable even under real data-access constraints — provided those constraints are identified early and the scope adapts accordingly, rather than being assumed away.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" y="363931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4564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Verified data coverage before writing analysis code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414223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95935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Caught and excluded a real data-entry anomaly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464515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46227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Corrected an overstated finding after checking the raw numbers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514807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9651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Delivered a working, tested 8-page dashboard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760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</a:rPr>
              <a:t>Thank you — Questions?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2026-08-12T22:18:34Z</dcterms:created>
  <dcterms:modified xsi:type="dcterms:W3CDTF">2026-08-12T22:18:34Z</dcterms:modified>
</cp:coreProperties>
</file>